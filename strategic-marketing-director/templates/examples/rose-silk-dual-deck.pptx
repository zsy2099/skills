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9848" y="1417320"/>
            <a:ext cx="10051999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35000"/>
              </a:lnSpc>
            </a:pPr>
            <a:r>
              <a:rPr sz="5400" b="1">
                <a:solidFill>
                  <a:srgbClr val="1A1A1A"/>
                </a:solidFill>
                <a:latin typeface="微软雅黑"/>
              </a:rPr>
              <a:t>玫瑰丝语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2880360"/>
            <a:ext cx="100519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1A1A"/>
                </a:solidFill>
                <a:latin typeface="微软雅黑"/>
              </a:rPr>
              <a:t>女用私密护理 DTC 品牌 · 90 天上市完整提案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703320"/>
            <a:ext cx="100519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8C8C84"/>
                </a:solidFill>
                <a:latin typeface="微软雅黑"/>
              </a:rPr>
              <a:t>战略层（SMD） + 执行层（marketing-skills）双技能串联输出。战略层用 PESTEL/五力/3C/Kapferer 论证「匿名即产品」是结构性卡位；执行层用 23 个 CRO/SEO/付费/付费模块拼出 90 天动作清单。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" y="5486400"/>
            <a:ext cx="10051999" cy="12801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69848" y="5650992"/>
            <a:ext cx="100519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C8C84"/>
                </a:solidFill>
                <a:latin typeface="微软雅黑"/>
              </a:rPr>
              <a:t>strategic-marketing-director v2.1.0 × marketing-skills v1.0.0  | 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方案结构与串联方法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960332"/>
            <a:ext cx="10874959" cy="568053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60332"/>
            <a:ext cx="68580" cy="568053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1960332"/>
            <a:ext cx="731520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1960332"/>
            <a:ext cx="9503359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微软雅黑"/>
              </a:rPr>
              <a:t>核心结论：付费封死下的结构性卡位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56402"/>
            <a:ext cx="10874959" cy="568053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58368" y="2656402"/>
            <a:ext cx="68580" cy="568053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656402"/>
            <a:ext cx="731520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2656402"/>
            <a:ext cx="9503359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微软雅黑"/>
              </a:rPr>
              <a:t>宏观 PESTEL × 行业五力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352471"/>
            <a:ext cx="10874959" cy="568053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" y="3352471"/>
            <a:ext cx="68580" cy="568053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352471"/>
            <a:ext cx="731520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3352471"/>
            <a:ext cx="9503359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微软雅黑"/>
              </a:rPr>
              <a:t>3C 三角 × Kapferer 品牌棱镜 × 价值主张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048541"/>
            <a:ext cx="10874959" cy="568053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4048541"/>
            <a:ext cx="68580" cy="568053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976" y="4048541"/>
            <a:ext cx="731520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4048541"/>
            <a:ext cx="9503359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微软雅黑"/>
              </a:rPr>
              <a:t>STP 定位 × 4P 组合 × POES 渠道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44610"/>
            <a:ext cx="10874959" cy="568053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4744610"/>
            <a:ext cx="68580" cy="568053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0976" y="4744610"/>
            <a:ext cx="731520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744610"/>
            <a:ext cx="9503359" cy="568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A1A1A"/>
                </a:solidFill>
                <a:latin typeface="微软雅黑"/>
              </a:rPr>
              <a:t>90 天行动 × 风险 × 复盘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SMD 阶段 1-3 → marketing-skills 执行层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1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960332"/>
            <a:ext cx="1087495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1A1A1A"/>
                </a:solidFill>
                <a:latin typeface="微软雅黑"/>
              </a:rPr>
              <a:t>付费广告全域被封死，结构性卡位押在「匿名即产品 + 销毁式面单 + 即时零售夜达 + 自然 SEO」四条非付费通路上，差异化锚是医用级铂金硅胶规格全公开。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938740"/>
            <a:ext cx="10874959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2938740"/>
            <a:ext cx="1050919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A1A1A"/>
                </a:solidFill>
                <a:latin typeface="微软雅黑"/>
              </a:rPr>
              <a:t>调用框架：SMD 框架1 战略环境扫描 + 框架2 品牌定位 + 框架3 营销组合 → marketing-skills launch/paid/email/seo/paid-ads 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560532"/>
            <a:ext cx="25404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3560532"/>
            <a:ext cx="2540431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3871428"/>
            <a:ext cx="217467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700" b="1">
                <a:solidFill>
                  <a:srgbClr val="1A1A1A"/>
                </a:solidFill>
                <a:latin typeface="微软雅黑"/>
              </a:rPr>
              <a:t>$47.5B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94388"/>
            <a:ext cx="21746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C8C84"/>
                </a:solidFill>
                <a:latin typeface="微软雅黑"/>
              </a:rPr>
              <a:t>全球性健康市场 2025（8.9% CAGR）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3560532"/>
            <a:ext cx="25404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436543" y="3560532"/>
            <a:ext cx="2540431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19423" y="3871428"/>
            <a:ext cx="217467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300" b="1">
                <a:solidFill>
                  <a:srgbClr val="1A1A1A"/>
                </a:solidFill>
                <a:latin typeface="微软雅黑"/>
              </a:rPr>
              <a:t>¥2081 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423" y="4694388"/>
            <a:ext cx="21746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C8C84"/>
                </a:solidFill>
                <a:latin typeface="微软雅黑"/>
              </a:rPr>
              <a:t>中国市场 2025，电商 +15.7%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4719" y="3560532"/>
            <a:ext cx="25404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4719" y="3560532"/>
            <a:ext cx="2540431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97599" y="3871428"/>
            <a:ext cx="217467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A1A1A"/>
                </a:solidFill>
                <a:latin typeface="微软雅黑"/>
              </a:rPr>
              <a:t>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9" y="4694388"/>
            <a:ext cx="21746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C8C84"/>
                </a:solidFill>
                <a:latin typeface="微软雅黑"/>
              </a:rPr>
              <a:t>女性占比（2020 仅 35%）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2895" y="3560532"/>
            <a:ext cx="2540431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92895" y="3560532"/>
            <a:ext cx="2540431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75775" y="3871428"/>
            <a:ext cx="217467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100" b="1">
                <a:solidFill>
                  <a:srgbClr val="1A1A1A"/>
                </a:solidFill>
                <a:latin typeface="微软雅黑"/>
              </a:rPr>
              <a:t>+45%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5775" y="4694388"/>
            <a:ext cx="21746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C8C84"/>
                </a:solidFill>
                <a:latin typeface="微软雅黑"/>
              </a:rPr>
              <a:t>即时零售类目增速，夜间 60-65%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结论先行 · 框架 1/2/3 串联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PESTEL · 宏观环境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60332"/>
          <a:ext cx="10874958" cy="412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6"/>
              </a:tblGrid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关键事实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对品牌的机会 / 风险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政治 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抖音保证金 10 万 / 小红书 P1 禁投 / 海外 Meta+Google+TikTok 禁投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风险：付费投放全线封死；机会：内容与 SEO 反而成为护城河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经济 E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女性消费 ¥446 亿（年增） / 即时零售客单 ¥75 / 中端价位带 ¥100-500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机会：¥129 夜享装切夜间 1.7 倍客单；毛利 70-90% 可消化投放亏损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社会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女性占比 35%→62% / 自我关怀动机 45.5% / 共同决策 82.1%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机会：自爱叙事 + 闺蜜双向 Referral 是高转化钩子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技术 T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30 分钟闪送 / 销毁式面单 / app 智能硬件 / SMS 打开 95%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机会：包装即渠道 + 短信+小程序组合是低成本护城河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环境 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快递面单碳印 / 消费者 ESG 意识提升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机会：销毁式 + 可回收包装做差异化叙事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法律 L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电商法 / 隐私法 / 广告法 / AI 主图审核 98%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风险：诱导加微 / 未成年提示 / 医疗级用词违规即下架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框架1 战略环境扫描 · PESTEL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行业五力 + 3C 三角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960332"/>
            <a:ext cx="5254599" cy="4120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60332"/>
            <a:ext cx="5254599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216364"/>
            <a:ext cx="4705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A1A1A"/>
                </a:solidFill>
                <a:latin typeface="微软雅黑"/>
              </a:rPr>
              <a:t>五力 · 行业吸引力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37572"/>
            <a:ext cx="4705959" cy="32517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现有竞争：激烈（LELO/Dame/网易春风/谜姬/天猫 2500+ 店均势）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新进入者：中（合规壁垒 + 复购资源）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替代品：中高（情趣内衣 / 订阅盒 / SM 周边分流）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供应商：中（硅胶/马达/外包装可选多家）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客户议价：低-中（隐私成本 + 夜达溢价锁住价格带）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60332"/>
            <a:ext cx="5254599" cy="4120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78727" y="1960332"/>
            <a:ext cx="5254599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53047" y="2216364"/>
            <a:ext cx="4705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A1A1A"/>
                </a:solidFill>
                <a:latin typeface="微软雅黑"/>
              </a:rPr>
              <a:t>3C 三角 · 战略方位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737572"/>
            <a:ext cx="4705959" cy="32517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Company：新创 DTC，锚 = 医用级硅胶 + 销毁式面单 + 夜达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Customer：25-38 一二线女性，自我关爱，决策独立，共同决策 82%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Competitor：LELO 走设计 / Dame 走赋权 / 网易春风走内容 / 谜姬走低价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差异化：把「匿名」从风险点做成产品点，所有竞品回避的痛点我们做主卖点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框架1 · 五力 + 3C 组合诊断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Kapferer 品牌棱镜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960332"/>
            <a:ext cx="10874959" cy="4120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▪  Physiology 生理：温柔的光泽 + 米白 + 哑光硅胶触感（不是冷峻的工业设计）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▪  Personality 性格：冷静、克制、陪伴感；不喧哗、不挑逗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▪  Relationship 关系：与自我身体的和解（这是与 LELO/Dame 错位的最大杠杆）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▪  Culture 文化：女性自我关怀 + 都市独居生活方式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▪  Self-image 自我：买家把自己投射成「懂得善待自己的都市女性」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2000">
                <a:solidFill>
                  <a:srgbClr val="1A1A1A"/>
                </a:solidFill>
                <a:latin typeface="微软雅黑"/>
              </a:rPr>
              <a:t>▪  Reflection 反映：广告场景是夜归、灯下、洗完澡后，而不是情欲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框架2 品牌定位 · 6 维人格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价值主张画布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58368" y="1960332"/>
            <a:ext cx="5254599" cy="4120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1960332"/>
            <a:ext cx="5254599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688" y="2216364"/>
            <a:ext cx="4705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A1A1A"/>
                </a:solidFill>
                <a:latin typeface="微软雅黑"/>
              </a:rPr>
              <a:t>客户侧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37572"/>
            <a:ext cx="4705959" cy="32517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Jobs：高品质、无心理负担的私密消费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Pains：怕被认出、品质不敢信、流程不透明、退换尴尬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Gains：匿名、医用级、即时、被尊重、闺蜜认同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60332"/>
            <a:ext cx="5254599" cy="4120427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78727" y="1960332"/>
            <a:ext cx="5254599" cy="640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53047" y="2216364"/>
            <a:ext cx="470595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1A1A1A"/>
                </a:solidFill>
                <a:latin typeface="微软雅黑"/>
              </a:rPr>
              <a:t>方案侧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737572"/>
            <a:ext cx="4705959" cy="325174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Products：三档 + 夜享装 + 自爱手册 + 双向 Referral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Pain Relievers：销毁式面单 / 无标识包装 / 30min 闪送</a:t>
            </a:r>
          </a:p>
          <a:p>
            <a:pPr>
              <a:lnSpc>
                <a:spcPct val="145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微软雅黑"/>
              </a:rPr>
              <a:t>▪  Gain Creators：医用级硅胶证书 / 骑手中性面单 / 包装即渠道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框架2 · Value Proposition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STP 定位 + 4P 营销组合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60332"/>
          <a:ext cx="10874958" cy="412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6"/>
              </a:tblGrid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S 细分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25-38 一二线都市女性，月入 8k+，独居或与伴侣分住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中国女性情趣消费主力段，共同决策 82.1%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T 目标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首期 10 万种子用户 + 一线城市 70% 占比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艾媒：一线女性贡献已超 70%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 定位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「匿名即产品」的女性私密护理 DTC 标杆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竞品全部回避隐私痛点，结构性空位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Product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三档 SKU ¥169/¥429/¥899 + 夜享装 + 周边套组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中端卡位：40-60% 成本给 80% 体验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默认中档 ¥429，Default Effect 锁主档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评测实证中端最优性价比，$150+ 必须公开规格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Place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即时零售（夜间）+ 私域 + 自然搜索 + 官网 SEO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付费被封，渠道全部自有/赢得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150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Promotion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达人内容 + 包装即渠道 + 邮件 + 双向 Referral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零付费下的内容 + 口碑 + 复购飞轮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框架3 营销组合策略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POES 12 渠道分配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60332"/>
          <a:ext cx="10874956" cy="412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39"/>
              </a:tblGrid>
              <a:tr h="82408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核心动作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预算占比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</a:tr>
              <a:tr h="8240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 付费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抖音仅货架+橱窗 / 美团闪购 / 视频号推广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夜间竞价 + 限购前置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40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O 自有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官网 SEO / 私域企微 / 邮件 drip / 短信 / app PUSH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私域+包裹+短信三连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8240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E 赢得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PR 报道 / 达人内容（小红书+抖音+视频号）/ UGC 晒单 / SEO 自然内容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500+ 达人 + pSEO 200 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240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S 共享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双向 Referral / 包裹卡片裂变 / 社媒运营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邀请 1 人各得 ¥30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框架6 传播与渠道组合 · 合规受限版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90 天行动建议（P0 / P1）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960332"/>
          <a:ext cx="10874955" cy="4120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行动项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预期效果</a:t>
                      </a:r>
                    </a:p>
                  </a:txBody>
                  <a:tcPr marL="91440" marR="91440" marT="45720" marB="45720" anchor="ctr">
                    <a:solidFill>
                      <a:srgbClr val="1A1A1A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落地页三版 H1 的 A/B 测试（隐私/材质/夜达）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增长负责人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D1-D14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CVR +0.6pp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GA4/GTM 全埋点 + Product/Offer/Review Schema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数据负责人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D1-D10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归因可用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即时零售夜间履约 SOP（22:00-03:00 接单）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运营负责人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D1-D21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夜间单占比 50%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包装销毁式面单 SOP 落地 + 骑手中性标签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供应链负责人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D1-D28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0 隐私投诉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包裹内《自爱手册》PDF + 双向 Referral 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用户负责人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D15-D45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加微率 ≥ 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86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pSEO 长尾词 200 组（私密/匿名/材质/场景）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SEO 负责人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D30-D90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微软雅黑"/>
                        </a:rPr>
                        <a:t>自然流量翻倍</a:t>
                      </a:r>
                    </a:p>
                  </a:txBody>
                  <a:tcPr marL="91440" marR="91440" marT="45720" marB="45720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框架8 运营与执行管控 · RACI 已指定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4805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69264" y="41148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风险预案与合规红线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0430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960332"/>
            <a:ext cx="10874959" cy="4120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▪  平台封禁：抖音保证金 10 万 + 禁直播引流 → 预案：预算转向达人内容与即时零售货架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▪  小红书 P1 高危禁投（扣 9 分冻结）→ 预案：只做自然内容与品牌专区，不投流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▪  海外 Meta/Google/TikTok 全禁投 → 预案：出海外包区域代理 + 联盟 + 自然 SEO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▪  支付通道拒付：high-risk merchant → 预案：备 2 家高风险收单 + 30 天切换 SOP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▪  材质舆情：$150+ 未标医疗级硅胶即红旗 → 预案：规格 + 证书 + 第三方检测全公开</a:t>
            </a:r>
          </a:p>
          <a:p>
            <a:pPr>
              <a:lnSpc>
                <a:spcPct val="15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微软雅黑"/>
              </a:rPr>
              <a:t>▪  隐私舆情：包裹外漏 / 骑手点评 → 预案：销毁式面单 + 中性 SKU 码 + 客服 7×24 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六帽思考法 · 黑帽审视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722376"/>
            <a:ext cx="128016" cy="105507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264" y="685800"/>
            <a:ext cx="10564063" cy="1201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1A1A1A"/>
                </a:solidFill>
                <a:latin typeface="微软雅黑"/>
              </a:rPr>
              <a:t>复盘指标与下一步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78620"/>
            <a:ext cx="10874959" cy="10972"/>
          </a:xfrm>
          <a:prstGeom prst="rect">
            <a:avLst/>
          </a:prstGeom>
          <a:solidFill>
            <a:srgbClr val="E4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2234652"/>
            <a:ext cx="10874959" cy="35717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60000"/>
              </a:lnSpc>
              <a:spcAft>
                <a:spcPts val="1100"/>
              </a:spcAft>
            </a:pPr>
            <a:r>
              <a:rPr sz="2100">
                <a:solidFill>
                  <a:srgbClr val="1A1A1A"/>
                </a:solidFill>
                <a:latin typeface="微软雅黑"/>
              </a:rPr>
              <a:t>→  北极星指标：月度复购用户数（非 GMV）</a:t>
            </a:r>
          </a:p>
          <a:p>
            <a:pPr>
              <a:lnSpc>
                <a:spcPct val="160000"/>
              </a:lnSpc>
              <a:spcAft>
                <a:spcPts val="1100"/>
              </a:spcAft>
            </a:pPr>
            <a:r>
              <a:rPr sz="2100">
                <a:solidFill>
                  <a:srgbClr val="1A1A1A"/>
                </a:solidFill>
                <a:latin typeface="微软雅黑"/>
              </a:rPr>
              <a:t>→  单位经济：CAC ≤ ¥120，LTV/CAC ≥ 3，回本 ≤ 90 天</a:t>
            </a:r>
          </a:p>
          <a:p>
            <a:pPr>
              <a:lnSpc>
                <a:spcPct val="160000"/>
              </a:lnSpc>
              <a:spcAft>
                <a:spcPts val="1100"/>
              </a:spcAft>
            </a:pPr>
            <a:r>
              <a:rPr sz="2100">
                <a:solidFill>
                  <a:srgbClr val="1A1A1A"/>
                </a:solidFill>
                <a:latin typeface="微软雅黑"/>
              </a:rPr>
              <a:t>→  AARRR：加微率 ≥ 8% / 次日留存 ≥ 35% / Referral 系数 ≥ 0.25</a:t>
            </a:r>
          </a:p>
          <a:p>
            <a:pPr>
              <a:lnSpc>
                <a:spcPct val="160000"/>
              </a:lnSpc>
              <a:spcAft>
                <a:spcPts val="1100"/>
              </a:spcAft>
            </a:pPr>
            <a:r>
              <a:rPr sz="2100">
                <a:solidFill>
                  <a:srgbClr val="1A1A1A"/>
                </a:solidFill>
                <a:latin typeface="微软雅黑"/>
              </a:rPr>
              <a:t>→  实验：每两周一轮 A/B，显著性 95% 才规模化</a:t>
            </a:r>
          </a:p>
          <a:p>
            <a:pPr>
              <a:lnSpc>
                <a:spcPct val="160000"/>
              </a:lnSpc>
              <a:spcAft>
                <a:spcPts val="1100"/>
              </a:spcAft>
            </a:pPr>
            <a:r>
              <a:rPr sz="2100">
                <a:solidFill>
                  <a:srgbClr val="1A1A1A"/>
                </a:solidFill>
                <a:latin typeface="微软雅黑"/>
              </a:rPr>
              <a:t>→  下一步：D30 第一次 PDCA 复盘；D60 决定是否扩品类（润滑/清洁套组）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869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框架7 数据评估 · LTV-CAC / AARRR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>
                <a:solidFill>
                  <a:srgbClr val="8C8C84"/>
                </a:solidFill>
                <a:latin typeface="微软雅黑"/>
              </a:rPr>
              <a:t>11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玫瑰丝语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